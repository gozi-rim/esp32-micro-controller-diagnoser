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" cy="6858000"/>
          </a:xfrm>
          <a:prstGeom prst="roundRect">
            <a:avLst>
              <a:gd name="adj" fmla="val 4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059E6F"/>
                </a:solidFill>
                <a:latin typeface="Calibri"/>
              </a:defRPr>
            </a:pPr>
            <a:r>
              <a:t>ECE 515.2  --  FORWARD-CHAINING EXPERT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760"/>
              </a:lnSpc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NetDiag Expert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79"/>
              </a:lnSpc>
              <a:spcAft>
                <a:spcPts val="0"/>
              </a:spcAft>
              <a:defRPr sz="2200" b="0">
                <a:solidFill>
                  <a:srgbClr val="94A3B8"/>
                </a:solidFill>
                <a:latin typeface="Calibri"/>
              </a:defRPr>
            </a:pPr>
            <a:r>
              <a:t>A Localized Network &amp; IoT Hardware Diagnostic Expert System</a:t>
            </a:r>
            <a:br/>
            <a:r>
              <a:t>for ESP32-Based Embedded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297680"/>
            <a:ext cx="22860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Presented by  --  Group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94A3B8"/>
                </a:solidFill>
                <a:latin typeface="Calibri"/>
              </a:defRPr>
            </a:pPr>
            <a:r>
              <a:t>Department of Electronic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486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94A3B8"/>
                </a:solidFill>
                <a:latin typeface="Calibri"/>
              </a:defRPr>
            </a:pPr>
            <a:r>
              <a:t>University of Port Harcourt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897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August 18,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What Real-World Problem Does This Solve?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0332720" cy="4297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418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60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059E6F"/>
                </a:solidFill>
                <a:latin typeface="Calibri"/>
              </a:rPr>
              <a:t>   </a:t>
            </a:r>
            <a:r>
              <a:rPr sz="1600" b="1">
                <a:solidFill>
                  <a:srgbClr val="1E293B"/>
                </a:solidFill>
                <a:latin typeface="Calibri"/>
              </a:rPr>
              <a:t>Manual Debugging Is Slow &amp; Error-Prone  -  </a:t>
            </a:r>
            <a:r>
              <a:rPr sz="1600" b="0">
                <a:solidFill>
                  <a:srgbClr val="475569"/>
                </a:solidFill>
                <a:latin typeface="Calibri"/>
              </a:rPr>
              <a:t>Engineers spend hours tracing ESP32 hardware faults using trial-and-error, often misdiagnosing power, GPIO, and communication issues.</a:t>
            </a:r>
          </a:p>
          <a:p>
            <a:pPr>
              <a:lnSpc>
                <a:spcPts val="2160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059E6F"/>
                </a:solidFill>
                <a:latin typeface="Calibri"/>
              </a:rPr>
              <a:t>   </a:t>
            </a:r>
            <a:r>
              <a:rPr sz="1600" b="1">
                <a:solidFill>
                  <a:srgbClr val="1E293B"/>
                </a:solidFill>
                <a:latin typeface="Calibri"/>
              </a:rPr>
              <a:t>No Structured Diagnostic Tools Exist  -  </a:t>
            </a:r>
            <a:r>
              <a:rPr sz="1600" b="0">
                <a:solidFill>
                  <a:srgbClr val="475569"/>
                </a:solidFill>
                <a:latin typeface="Calibri"/>
              </a:rPr>
              <a:t>Unlike software (which has debuggers and profilers), embedded hardware troubleshooting lacks accessible, intelligent, guided diagnostic platforms.</a:t>
            </a:r>
          </a:p>
          <a:p>
            <a:pPr>
              <a:lnSpc>
                <a:spcPts val="2160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059E6F"/>
                </a:solidFill>
                <a:latin typeface="Calibri"/>
              </a:rPr>
              <a:t>   </a:t>
            </a:r>
            <a:r>
              <a:rPr sz="1600" b="1">
                <a:solidFill>
                  <a:srgbClr val="1E293B"/>
                </a:solidFill>
                <a:latin typeface="Calibri"/>
              </a:rPr>
              <a:t>Expertise Gap in Educational Settings  -  </a:t>
            </a:r>
            <a:r>
              <a:rPr sz="1600" b="0">
                <a:solidFill>
                  <a:srgbClr val="475569"/>
                </a:solidFill>
                <a:latin typeface="Calibri"/>
              </a:rPr>
              <a:t>Students in ECE courses lack practical experience to quickly identify root causes of brownout resets, I2C lockups, or antenna interference.</a:t>
            </a:r>
          </a:p>
          <a:p>
            <a:pPr>
              <a:lnSpc>
                <a:spcPts val="2160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059E6F"/>
                </a:solidFill>
                <a:latin typeface="Calibri"/>
              </a:rPr>
              <a:t>   </a:t>
            </a:r>
            <a:r>
              <a:rPr sz="1600" b="1">
                <a:solidFill>
                  <a:srgbClr val="1E293B"/>
                </a:solidFill>
                <a:latin typeface="Calibri"/>
              </a:rPr>
              <a:t>Scattered Knowledge, No Central Reference  -  </a:t>
            </a:r>
            <a:r>
              <a:rPr sz="1600" b="0">
                <a:solidFill>
                  <a:srgbClr val="475569"/>
                </a:solidFill>
                <a:latin typeface="Calibri"/>
              </a:rPr>
              <a:t>Troubleshooting info is spread across datasheets, forums, and lecture notes with no single, searchable, decision-tree-driven knowledge base.</a:t>
            </a:r>
          </a:p>
          <a:p>
            <a:pPr>
              <a:lnSpc>
                <a:spcPts val="2160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059E6F"/>
                </a:solidFill>
                <a:latin typeface="Calibri"/>
              </a:rPr>
              <a:t>   </a:t>
            </a:r>
            <a:r>
              <a:rPr sz="1600" b="1">
                <a:solidFill>
                  <a:srgbClr val="1E293B"/>
                </a:solidFill>
                <a:latin typeface="Calibri"/>
              </a:rPr>
              <a:t>Real-Time Telemetry Is Inaccessible  -  </a:t>
            </a:r>
            <a:r>
              <a:rPr sz="1600" b="0">
                <a:solidFill>
                  <a:srgbClr val="475569"/>
                </a:solidFill>
                <a:latin typeface="Calibri"/>
              </a:rPr>
              <a:t>Monitoring live ESP32 signals typically requires expensive lab equipment that many students don't have access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A0AEC0"/>
                </a:solidFill>
                <a:latin typeface="Calibri"/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41148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059E6F"/>
                </a:solidFill>
                <a:latin typeface="Calibri"/>
              </a:defRPr>
            </a:pPr>
            <a:r>
              <a:t>PROJECT OVERVIEW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What We Built &amp; The Main Goal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4937760" cy="4297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2402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059E6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43200"/>
            <a:ext cx="4297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059E6F"/>
                </a:solidFill>
                <a:latin typeface="Calibri"/>
              </a:rPr>
              <a:t>   </a:t>
            </a:r>
            <a:r>
              <a:rPr sz="1500" b="1">
                <a:solidFill>
                  <a:srgbClr val="1E293B"/>
                </a:solidFill>
                <a:latin typeface="Calibri"/>
              </a:rPr>
              <a:t>NetDiag Expert  -  </a:t>
            </a:r>
            <a:r>
              <a:rPr sz="1500" b="0">
                <a:solidFill>
                  <a:srgbClr val="475569"/>
                </a:solidFill>
                <a:latin typeface="Calibri"/>
              </a:rPr>
              <a:t>A web-based, rule-driven diagnostic expert system for ESP32 hardware troubleshooting.</a:t>
            </a:r>
          </a:p>
          <a:p>
            <a:pPr>
              <a:lnSpc>
                <a:spcPts val="2025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059E6F"/>
                </a:solidFill>
                <a:latin typeface="Calibri"/>
              </a:rPr>
              <a:t>   </a:t>
            </a:r>
            <a:r>
              <a:rPr sz="1500" b="1">
                <a:solidFill>
                  <a:srgbClr val="1E293B"/>
                </a:solidFill>
                <a:latin typeface="Calibri"/>
              </a:rPr>
              <a:t>Built With  -  </a:t>
            </a:r>
            <a:r>
              <a:rPr sz="1500" b="0">
                <a:solidFill>
                  <a:srgbClr val="475569"/>
                </a:solidFill>
                <a:latin typeface="Calibri"/>
              </a:rPr>
              <a:t>Next.js 16, React 19, TypeScript, Tailwind CSS - professional SaaS-style interface.</a:t>
            </a:r>
          </a:p>
          <a:p>
            <a:pPr>
              <a:lnSpc>
                <a:spcPts val="2025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059E6F"/>
                </a:solidFill>
                <a:latin typeface="Calibri"/>
              </a:rPr>
              <a:t>   </a:t>
            </a:r>
            <a:r>
              <a:rPr sz="1500" b="1">
                <a:solidFill>
                  <a:srgbClr val="1E293B"/>
                </a:solidFill>
                <a:latin typeface="Calibri"/>
              </a:rPr>
              <a:t>AI Methodology  -  </a:t>
            </a:r>
            <a:r>
              <a:rPr sz="1500" b="0">
                <a:solidFill>
                  <a:srgbClr val="475569"/>
                </a:solidFill>
                <a:latin typeface="Calibri"/>
              </a:rPr>
              <a:t>Forward-chaining inference engine walking a structured decision tree of 2,400+ diagnostic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029200" cy="4297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240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3B82F6"/>
                </a:solidFill>
                <a:latin typeface="Calibri"/>
              </a:defRPr>
            </a:pPr>
            <a:r>
              <a:t>KEY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4320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   </a:t>
            </a:r>
            <a:r>
              <a:rPr sz="1500" b="1">
                <a:solidFill>
                  <a:srgbClr val="1E293B"/>
                </a:solidFill>
                <a:latin typeface="Calibri"/>
              </a:rPr>
              <a:t>Automate Fault Isolation  -  </a:t>
            </a:r>
            <a:r>
              <a:rPr sz="1500" b="0">
                <a:solidFill>
                  <a:srgbClr val="475569"/>
                </a:solidFill>
                <a:latin typeface="Calibri"/>
              </a:rPr>
              <a:t>Replace manual trial-and-error with systematic, guided diagnostic workflows.</a:t>
            </a:r>
          </a:p>
          <a:p>
            <a:pPr>
              <a:lnSpc>
                <a:spcPts val="2025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   </a:t>
            </a:r>
            <a:r>
              <a:rPr sz="1500" b="1">
                <a:solidFill>
                  <a:srgbClr val="1E293B"/>
                </a:solidFill>
                <a:latin typeface="Calibri"/>
              </a:rPr>
              <a:t>Provide Structured Knowledge  -  </a:t>
            </a:r>
            <a:r>
              <a:rPr sz="1500" b="0">
                <a:solidFill>
                  <a:srgbClr val="475569"/>
                </a:solidFill>
                <a:latin typeface="Calibri"/>
              </a:rPr>
              <a:t>Centralize 9 fault categories (Brownout, Wi-Fi, GPIO, I2C, SPI, ADC, etc.) into a searchable base.</a:t>
            </a:r>
          </a:p>
          <a:p>
            <a:pPr>
              <a:lnSpc>
                <a:spcPts val="2025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   </a:t>
            </a:r>
            <a:r>
              <a:rPr sz="1500" b="1">
                <a:solidFill>
                  <a:srgbClr val="1E293B"/>
                </a:solidFill>
                <a:latin typeface="Calibri"/>
              </a:rPr>
              <a:t>Deliver Real-Time Monitoring  -  </a:t>
            </a:r>
            <a:r>
              <a:rPr sz="1500" b="0">
                <a:solidFill>
                  <a:srgbClr val="475569"/>
                </a:solidFill>
                <a:latin typeface="Calibri"/>
              </a:rPr>
              <a:t>Simulate live ESP32 telemetry (temperature, RSSI, heap) for educational insight.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A0AEC0"/>
                </a:solidFill>
                <a:latin typeface="Calibri"/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3B82F6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How It Works - High-Level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00400" cy="4297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32004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0"/>
              </a:lnSpc>
              <a:spcAft>
                <a:spcPts val="0"/>
              </a:spcAft>
              <a:defRPr sz="1900" b="1">
                <a:solidFill>
                  <a:srgbClr val="111827"/>
                </a:solidFill>
                <a:latin typeface="Calibri"/>
              </a:defRPr>
            </a:pPr>
            <a:r>
              <a:t>Describe the Symptom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The user types or selects a hardware symptom (e.g., "ESP32 keeps resetting"). The system matches keywords to diagnostic entry points in the rule 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11680"/>
            <a:ext cx="3200400" cy="4297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011680"/>
            <a:ext cx="3200400" cy="54864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2331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059E6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7432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0"/>
              </a:lnSpc>
              <a:spcAft>
                <a:spcPts val="0"/>
              </a:spcAft>
              <a:defRPr sz="1900" b="1">
                <a:solidFill>
                  <a:srgbClr val="111827"/>
                </a:solidFill>
                <a:latin typeface="Calibri"/>
              </a:defRPr>
            </a:pPr>
            <a:r>
              <a:t>Engine Processes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338328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The forward-chaining inference engine fires matching rules, walks the decision tree, and narrows the fault domain step-by-step using IF-THEN logic.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011680"/>
            <a:ext cx="3200400" cy="4297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2011680"/>
            <a:ext cx="3200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2331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3B82F6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7432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0"/>
              </a:lnSpc>
              <a:spcAft>
                <a:spcPts val="0"/>
              </a:spcAft>
              <a:defRPr sz="1900" b="1">
                <a:solidFill>
                  <a:srgbClr val="111827"/>
                </a:solidFill>
                <a:latin typeface="Calibri"/>
              </a:defRPr>
            </a:pPr>
            <a:r>
              <a:t>Receive Diagnosis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338328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The system outputs a structured diagnosis: root cause, confidence score, severity level, step-by-step remediation, and circuit diagram notes.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840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06B6D4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840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06B6D4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A0AEC0"/>
                </a:solidFill>
                <a:latin typeface="Calibri"/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7C3AED"/>
                </a:solidFill>
                <a:latin typeface="Calibri"/>
              </a:defRPr>
            </a:pPr>
            <a:r>
              <a:t>KEY FEATURES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Core Functionalities in Plain Terms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65960"/>
            <a:ext cx="320040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32004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11827"/>
                </a:solidFill>
                <a:latin typeface="Calibri"/>
              </a:defRPr>
            </a:pPr>
            <a:r>
              <a:t>Forward-Chaining</a:t>
            </a:r>
            <a:br/>
            <a:r>
              <a:t>Inference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80360"/>
            <a:ext cx="2743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Systematically fires IF-THEN rules to walk a structured decision tree covering 9 fault categories.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65960"/>
            <a:ext cx="320040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965960"/>
            <a:ext cx="3200400" cy="45720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48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11827"/>
                </a:solidFill>
                <a:latin typeface="Calibri"/>
              </a:defRPr>
            </a:pPr>
            <a:r>
              <a:t>Interactive</a:t>
            </a:r>
            <a:br/>
            <a:r>
              <a:t>Diagnostic 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80360"/>
            <a:ext cx="2743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Split-pane UI: symptom input on the left, real-time system context on the right. Bento-box selectable options.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965960"/>
            <a:ext cx="320040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965960"/>
            <a:ext cx="32004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148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11827"/>
                </a:solidFill>
                <a:latin typeface="Calibri"/>
              </a:defRPr>
            </a:pPr>
            <a:r>
              <a:t>Live Telemetry</a:t>
            </a:r>
            <a:br/>
            <a: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880360"/>
            <a:ext cx="2743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Simulated real-time monitoring of CPU temp, Wi-Fi RSSI, heap memory, and GPIO states with oscilloscope waveforms.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97679"/>
            <a:ext cx="320040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297679"/>
            <a:ext cx="3200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48055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11827"/>
                </a:solidFill>
                <a:latin typeface="Calibri"/>
              </a:defRPr>
            </a:pPr>
            <a:r>
              <a:t>Searchable</a:t>
            </a:r>
            <a:br/>
            <a:r>
              <a:t>Knowledge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2079"/>
            <a:ext cx="2743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9 categorized fault trees: Brownout, ESP-NOW, Wi-Fi, GPIO, Antenna, I2C, SPI, ADC, and Strapping Pin issues.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297679"/>
            <a:ext cx="320040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4297679"/>
            <a:ext cx="32004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48055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11827"/>
                </a:solidFill>
                <a:latin typeface="Calibri"/>
              </a:defRPr>
            </a:pPr>
            <a:r>
              <a:t>ESP32 Pinout</a:t>
            </a:r>
            <a:br/>
            <a:r>
              <a:t>Mapping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212079"/>
            <a:ext cx="2743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Interactive 38-pin block diagram with real-time GPIO state overlay. Click any pin to inspect config and signal path.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4297679"/>
            <a:ext cx="320040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4297679"/>
            <a:ext cx="3200400" cy="457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448055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11827"/>
                </a:solidFill>
                <a:latin typeface="Calibri"/>
              </a:defRPr>
            </a:pPr>
            <a:r>
              <a:t>Structured Diagnosis</a:t>
            </a:r>
            <a:br/>
            <a:r>
              <a:t>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5212079"/>
            <a:ext cx="2743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Each result includes root cause, confidence factor, severity rating, step-by-step fix, and circuit diagram notes.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A0AEC0"/>
                </a:solidFill>
                <a:latin typeface="Calibri"/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41148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059E6F"/>
                </a:solidFill>
                <a:latin typeface="Calibri"/>
              </a:defRPr>
            </a:pPr>
            <a:r>
              <a:t>RESULTS &amp;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What Was Achieved &amp; Tested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251460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06B6D4"/>
                </a:solidFill>
                <a:latin typeface="Calibri"/>
              </a:defRPr>
            </a:pPr>
            <a:r>
              <a:t>2,400+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Diagnostic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920240"/>
            <a:ext cx="251460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59" y="20116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059E6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59" y="2560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Fault Categories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920240"/>
            <a:ext cx="251460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20116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D97706"/>
                </a:solidFill>
                <a:latin typeface="Calibri"/>
              </a:defRPr>
            </a:pPr>
            <a:r>
              <a:t>48+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560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Hardware Profiles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59" y="1920240"/>
            <a:ext cx="251460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598" y="20116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7C3AED"/>
                </a:solidFill>
                <a:latin typeface="Calibri"/>
              </a:defRPr>
            </a:pPr>
            <a:r>
              <a:t>99.9%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598" y="2560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System Uptime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337560"/>
            <a:ext cx="10332720" cy="3063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52044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60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059E6F"/>
                </a:solidFill>
                <a:latin typeface="Calibri"/>
              </a:rPr>
              <a:t>   </a:t>
            </a:r>
            <a:r>
              <a:rPr sz="1600" b="1">
                <a:solidFill>
                  <a:srgbClr val="1E293B"/>
                </a:solidFill>
                <a:latin typeface="Calibri"/>
              </a:rPr>
              <a:t>Full Diagnostic Workflow Tested  -  </a:t>
            </a:r>
            <a:r>
              <a:rPr sz="1600" b="0">
                <a:solidFill>
                  <a:srgbClr val="475569"/>
                </a:solidFill>
                <a:latin typeface="Calibri"/>
              </a:rPr>
              <a:t>Users described symptoms and the system successfully navigated the decision tree to identify root causes across all 9 fault categories.</a:t>
            </a:r>
          </a:p>
          <a:p>
            <a:pPr>
              <a:lnSpc>
                <a:spcPts val="2160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059E6F"/>
                </a:solidFill>
                <a:latin typeface="Calibri"/>
              </a:rPr>
              <a:t>   </a:t>
            </a:r>
            <a:r>
              <a:rPr sz="1600" b="1">
                <a:solidFill>
                  <a:srgbClr val="1E293B"/>
                </a:solidFill>
                <a:latin typeface="Calibri"/>
              </a:rPr>
              <a:t>Professional SaaS-Grade UI  -  </a:t>
            </a:r>
            <a:r>
              <a:rPr sz="1600" b="0">
                <a:solidFill>
                  <a:srgbClr val="475569"/>
                </a:solidFill>
                <a:latin typeface="Calibri"/>
              </a:rPr>
              <a:t>Dark-mode dashboard with split-pane diagnostics, real-time waveforms, serial console, and ESP32 pinout diagram.</a:t>
            </a:r>
          </a:p>
          <a:p>
            <a:pPr>
              <a:lnSpc>
                <a:spcPts val="2160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059E6F"/>
                </a:solidFill>
                <a:latin typeface="Calibri"/>
              </a:rPr>
              <a:t>   </a:t>
            </a:r>
            <a:r>
              <a:rPr sz="1600" b="1">
                <a:solidFill>
                  <a:srgbClr val="1E293B"/>
                </a:solidFill>
                <a:latin typeface="Calibri"/>
              </a:rPr>
              <a:t>AI-Powered Chat Integration  -  </a:t>
            </a:r>
            <a:r>
              <a:rPr sz="1600" b="0">
                <a:solidFill>
                  <a:srgbClr val="475569"/>
                </a:solidFill>
                <a:latin typeface="Calibri"/>
              </a:rPr>
              <a:t>Integrated OpenRouter LLM API for natural-language follow-up questions alongside rule-based outputs.</a:t>
            </a:r>
          </a:p>
          <a:p>
            <a:pPr>
              <a:lnSpc>
                <a:spcPts val="2160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059E6F"/>
                </a:solidFill>
                <a:latin typeface="Calibri"/>
              </a:rPr>
              <a:t>   </a:t>
            </a:r>
            <a:r>
              <a:rPr sz="1600" b="1">
                <a:solidFill>
                  <a:srgbClr val="1E293B"/>
                </a:solidFill>
                <a:latin typeface="Calibri"/>
              </a:rPr>
              <a:t>Live Demo Available  -  </a:t>
            </a:r>
            <a:r>
              <a:rPr sz="1600" b="0">
                <a:solidFill>
                  <a:srgbClr val="475569"/>
                </a:solidFill>
                <a:latin typeface="Calibri"/>
              </a:rPr>
              <a:t>The application runs locally via Next.js dev server and is ready for live demonstration during the defense session.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A0AEC0"/>
                </a:solidFill>
                <a:latin typeface="Calibri"/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D97706"/>
                </a:solidFill>
                <a:latin typeface="Calibri"/>
              </a:defRPr>
            </a:pPr>
            <a:r>
              <a:t>PRACTICAL SIGNIFICANCE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Why It Matters in Practice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6596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73152" cy="2103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11827"/>
                </a:solidFill>
                <a:latin typeface="Calibri"/>
              </a:defRPr>
            </a:pPr>
            <a:r>
              <a:t>Educational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9748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Gives ECE students a hands-on, interactive way to learn hardware debugging - bridging the gap between textbook theory and real-world embedded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65960"/>
            <a:ext cx="73152" cy="2103120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11827"/>
                </a:solidFill>
                <a:latin typeface="Calibri"/>
              </a:defRPr>
            </a:pPr>
            <a:r>
              <a:t>Time Savings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69748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Reduces diagnostic time from hours of manual probing to minutes of guided, rule-based fault isolation - dramatically improving lab productivity.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97679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97679"/>
            <a:ext cx="73152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52627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11827"/>
                </a:solidFill>
                <a:latin typeface="Calibri"/>
              </a:defRPr>
            </a:pPr>
            <a:r>
              <a:t>Industry Relevance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029199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Mirrors professional IoT diagnostic platforms used in industry (AWS IoT, Vercel-style dashboards), preparing students for real engineering roles.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97679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297679"/>
            <a:ext cx="73152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452627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11827"/>
                </a:solidFill>
                <a:latin typeface="Calibri"/>
              </a:defRPr>
            </a:pPr>
            <a:r>
              <a:t>Scalability &amp; Extensibility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5029199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The rule-based architecture can be extended to support additional microcontrollers (STM32, Arduino), new fault categories, and cloud-connected hardware.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A0AEC0"/>
                </a:solidFill>
                <a:latin typeface="Calibri"/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PROJECT TEAM  --  GROUP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Meet the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365760"/>
          </a:xfrm>
          <a:prstGeom prst="roundRect">
            <a:avLst>
              <a:gd name="adj" fmla="val 4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S/N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72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Full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19" y="15727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Matric 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198" y="15727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18" y="15727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011680"/>
            <a:ext cx="10332720" cy="3840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0391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Onyenaucheya Blessed Chimgozirim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391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U2021/3020046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0391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Group Leader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0391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System Architecture &amp; Forward-Chaining Inference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414016"/>
            <a:ext cx="10332720" cy="384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4414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4414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111827"/>
                </a:solidFill>
                <a:latin typeface="Calibri"/>
              </a:defRPr>
            </a:pPr>
            <a:r>
              <a:t>Memena Emmanuel Chiedu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4414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U2021/3020054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4414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4414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ESP-NOW Protocol &amp; Peer MAC Fault Tree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2816352"/>
            <a:ext cx="10332720" cy="3840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284378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8437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111827"/>
                </a:solidFill>
                <a:latin typeface="Calibri"/>
              </a:defRPr>
            </a:pPr>
            <a:r>
              <a:t>Ordu ThankGod Meyi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284378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U2021/3020045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8437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84378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Brownout &amp; Power Supply Diagnostic Rules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218688"/>
            <a:ext cx="10332720" cy="384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2461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3246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111827"/>
                </a:solidFill>
                <a:latin typeface="Calibri"/>
              </a:defRPr>
            </a:pPr>
            <a:r>
              <a:t>Paul Godwin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246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U2021/3020047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246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3246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Wi-Fi Stack &amp; FreeRTOS Watchdog Analysis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3621024"/>
            <a:ext cx="10332720" cy="3840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364845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36484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111827"/>
                </a:solidFill>
                <a:latin typeface="Calibri"/>
              </a:defRPr>
            </a:pPr>
            <a:r>
              <a:t>Dickson Jessica Emem-Abasi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364845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U2021/3020052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6484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364845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GPIO Voltage Logic &amp; Antenna Interference Domain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4023360"/>
            <a:ext cx="10332720" cy="384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0507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8760" y="40507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111827"/>
                </a:solidFill>
                <a:latin typeface="Calibri"/>
              </a:defRPr>
            </a:pPr>
            <a:r>
              <a:t>Amadi Chibuike Eberechukwu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40507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U2021/3020048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40507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40507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I2C Bus Lockup &amp; SPI Signal Integrity Testing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" y="4425696"/>
            <a:ext cx="10332720" cy="3840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445312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08760" y="44531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111827"/>
                </a:solidFill>
                <a:latin typeface="Calibri"/>
              </a:defRPr>
            </a:pPr>
            <a:r>
              <a:t>Nwankwo Gift Chisom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44531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U2021/3020049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72200" y="44531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44531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ADC2 Wi-Fi Conflict &amp; Strapping Pin Validation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4400" y="4828032"/>
            <a:ext cx="10332720" cy="384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5840" y="485546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08760" y="48554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111827"/>
                </a:solidFill>
                <a:latin typeface="Calibri"/>
              </a:defRPr>
            </a:pPr>
            <a:r>
              <a:t>Okonkwo Uchechukwu David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17720" y="485546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U2021/3020050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72200" y="48554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0920" y="485546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Knowledge Base Data Entry &amp; Rule Verification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4400" y="5230368"/>
            <a:ext cx="10332720" cy="3840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52578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08760" y="5257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111827"/>
                </a:solidFill>
                <a:latin typeface="Calibri"/>
              </a:defRPr>
            </a:pPr>
            <a:r>
              <a:t>Justin Steve Homa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17720" y="5257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U2021/3020051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72200" y="5257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60920" y="52578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Serial Monitor Panic Log Classifier Integration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4400" y="5632704"/>
            <a:ext cx="10332720" cy="384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566013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08760" y="566013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111827"/>
                </a:solidFill>
                <a:latin typeface="Calibri"/>
              </a:defRPr>
            </a:pPr>
            <a:r>
              <a:t>Okwudili Favour Chidinma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17720" y="56601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U2021/3020053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2200" y="566013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60920" y="566013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UI/UX Design &amp; Hardware Telemetry Dashboard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4400" y="6035040"/>
            <a:ext cx="10332720" cy="3840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5840" y="60624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08760" y="60624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111827"/>
                </a:solidFill>
                <a:latin typeface="Calibri"/>
              </a:defRPr>
            </a:pPr>
            <a:r>
              <a:t>Ugochukwu Emmanuel Kelechi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17720" y="60624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U2021/3020055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72200" y="60624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60920" y="60624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Documentation, Testing &amp; PDF Report Generation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A0AEC0"/>
                </a:solidFill>
                <a:latin typeface="Calibri"/>
              </a:defRPr>
            </a:pPr>
            <a:r>
              <a:t>ECE 515.2 (Intro to AI)  |  Department of Electronic Engineering  |  University of Port Harcourt  |  2024/2025 Session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A0AEC0"/>
                </a:solidFill>
                <a:latin typeface="Calibri"/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" cy="6858000"/>
          </a:xfrm>
          <a:prstGeom prst="roundRect">
            <a:avLst>
              <a:gd name="adj" fmla="val 4000"/>
            </a:avLst>
          </a:prstGeom>
          <a:solidFill>
            <a:srgbClr val="05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059E6F"/>
                </a:solidFill>
                <a:latin typeface="Calibri"/>
              </a:defRPr>
            </a:pPr>
            <a:r>
              <a:t>CONCLUSION  --  FUTURE WORK  -- 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20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Wrapping Up &amp; Looking Ahead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11680"/>
            <a:ext cx="4846320" cy="25603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059E6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97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90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059E6F"/>
                </a:solidFill>
                <a:latin typeface="Calibri"/>
              </a:rPr>
              <a:t>   </a:t>
            </a:r>
            <a:r>
              <a:rPr sz="1400" b="1">
                <a:solidFill>
                  <a:srgbClr val="059E6F"/>
                </a:solidFill>
                <a:latin typeface="Calibri"/>
              </a:rPr>
              <a:t>Goal Achieved  -  </a:t>
            </a:r>
            <a:r>
              <a:rPr sz="1400" b="0">
                <a:solidFill>
                  <a:srgbClr val="94A3B8"/>
                </a:solidFill>
                <a:latin typeface="Calibri"/>
              </a:rPr>
              <a:t>Successfully built a forward-chaining expert system for ESP32 hardware diagnostics.</a:t>
            </a:r>
          </a:p>
          <a:p>
            <a:pPr>
              <a:lnSpc>
                <a:spcPts val="1890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059E6F"/>
                </a:solidFill>
                <a:latin typeface="Calibri"/>
              </a:rPr>
              <a:t>   </a:t>
            </a:r>
            <a:r>
              <a:rPr sz="1400" b="1">
                <a:solidFill>
                  <a:srgbClr val="059E6F"/>
                </a:solidFill>
                <a:latin typeface="Calibri"/>
              </a:rPr>
              <a:t>Classical AI Applied  -  </a:t>
            </a:r>
            <a:r>
              <a:rPr sz="1400" b="0">
                <a:solidFill>
                  <a:srgbClr val="94A3B8"/>
                </a:solidFill>
                <a:latin typeface="Calibri"/>
              </a:rPr>
              <a:t>Demonstrated practical application of rule-based reasoning in embedded systems education.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4846320" cy="25603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06B6D4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51760"/>
            <a:ext cx="4297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90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06B6D4"/>
                </a:solidFill>
                <a:latin typeface="Calibri"/>
              </a:rPr>
              <a:t>   </a:t>
            </a:r>
            <a:r>
              <a:rPr sz="1400" b="1">
                <a:solidFill>
                  <a:srgbClr val="06B6D4"/>
                </a:solidFill>
                <a:latin typeface="Calibri"/>
              </a:rPr>
              <a:t>Hardware Integration  -  </a:t>
            </a:r>
            <a:r>
              <a:rPr sz="1400" b="0">
                <a:solidFill>
                  <a:srgbClr val="94A3B8"/>
                </a:solidFill>
                <a:latin typeface="Calibri"/>
              </a:rPr>
              <a:t>Connect to real ESP32 boards via Web Serial API for live telemetry.</a:t>
            </a:r>
          </a:p>
          <a:p>
            <a:pPr>
              <a:lnSpc>
                <a:spcPts val="1890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06B6D4"/>
                </a:solidFill>
                <a:latin typeface="Calibri"/>
              </a:rPr>
              <a:t>   </a:t>
            </a:r>
            <a:r>
              <a:rPr sz="1400" b="1">
                <a:solidFill>
                  <a:srgbClr val="06B6D4"/>
                </a:solidFill>
                <a:latin typeface="Calibri"/>
              </a:rPr>
              <a:t>Expand Rule Base  -  </a:t>
            </a:r>
            <a:r>
              <a:rPr sz="1400" b="0">
                <a:solidFill>
                  <a:srgbClr val="94A3B8"/>
                </a:solidFill>
                <a:latin typeface="Calibri"/>
              </a:rPr>
              <a:t>Add support for STM32, Arduino, and Raspberry Pi with community fault trees.</a:t>
            </a:r>
          </a:p>
          <a:p>
            <a:pPr>
              <a:lnSpc>
                <a:spcPts val="1890"/>
              </a:lnSpc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06B6D4"/>
                </a:solidFill>
                <a:latin typeface="Calibri"/>
              </a:rPr>
              <a:t>   </a:t>
            </a:r>
            <a:r>
              <a:rPr sz="1400" b="1">
                <a:solidFill>
                  <a:srgbClr val="06B6D4"/>
                </a:solidFill>
                <a:latin typeface="Calibri"/>
              </a:rPr>
              <a:t>Cloud Deployment  -  </a:t>
            </a:r>
            <a:r>
              <a:rPr sz="1400" b="0">
                <a:solidFill>
                  <a:srgbClr val="94A3B8"/>
                </a:solidFill>
                <a:latin typeface="Calibri"/>
              </a:rPr>
              <a:t>Deploy as a full SaaS platform with user accounts, saved diagnostics, and analytics.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Questions &amp;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Thank you for your attention. We welcome your questions and feedback.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ECE 515.2  |  Group 11  |  University of Port Harcourt  | 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